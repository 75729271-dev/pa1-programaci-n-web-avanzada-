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c0ec1170dc415e" /><Relationship Type="http://schemas.openxmlformats.org/officeDocument/2006/relationships/extended-properties" Target="/docProps/app.xml" Id="Rdde6f524b0454f93" /><Relationship Type="http://schemas.openxmlformats.org/officeDocument/2006/relationships/officeDocument" Target="/ppt/presentation.xml" Id="Rb3bb65eb50f84c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8ffbb4ff904a6c"/>
  </p:sldMasterIdLst>
  <p:notesMasterIdLst>
    <p:notesMasterId xmlns:r="http://schemas.openxmlformats.org/officeDocument/2006/relationships" r:id="Rdb196f0d40984f03"/>
  </p:notesMasterIdLst>
  <p:sldIdLst>
    <p:sldId xmlns:r="http://schemas.openxmlformats.org/officeDocument/2006/relationships" id="256" r:id="R977f35831d5d4620"/>
    <p:sldId xmlns:r="http://schemas.openxmlformats.org/officeDocument/2006/relationships" id="257" r:id="R97fa7e692d524fdf"/>
    <p:sldId xmlns:r="http://schemas.openxmlformats.org/officeDocument/2006/relationships" id="258" r:id="R530bb172e1f44056"/>
    <p:sldId xmlns:r="http://schemas.openxmlformats.org/officeDocument/2006/relationships" id="259" r:id="R1c8695fec6f9497e"/>
    <p:sldId xmlns:r="http://schemas.openxmlformats.org/officeDocument/2006/relationships" id="260" r:id="Rf94c307dbf5b47a4"/>
    <p:sldId xmlns:r="http://schemas.openxmlformats.org/officeDocument/2006/relationships" id="261" r:id="R76e70302ba0844af"/>
    <p:sldId xmlns:r="http://schemas.openxmlformats.org/officeDocument/2006/relationships" id="262" r:id="R91852e4ca9c64957"/>
    <p:sldId xmlns:r="http://schemas.openxmlformats.org/officeDocument/2006/relationships" id="263" r:id="Rb8402e2f20424eeb"/>
    <p:sldId xmlns:r="http://schemas.openxmlformats.org/officeDocument/2006/relationships" id="264" r:id="Rb8f158e3af774a06"/>
    <p:sldId xmlns:r="http://schemas.openxmlformats.org/officeDocument/2006/relationships" id="265" r:id="R8f3a3b88369049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850424657a4dee" /><Relationship Type="http://schemas.openxmlformats.org/officeDocument/2006/relationships/slideMaster" Target="/ppt/slideMasters/slideMaster1.xml" Id="Ra88ffbb4ff904a6c" /><Relationship Type="http://schemas.openxmlformats.org/officeDocument/2006/relationships/notesMaster" Target="/ppt/notesMasters/notesMaster1.xml" Id="Rdb196f0d40984f03" /><Relationship Type="http://schemas.openxmlformats.org/officeDocument/2006/relationships/presProps" Target="/ppt/presProps.xml" Id="R5eea2f7787bd4384" /><Relationship Type="http://schemas.openxmlformats.org/officeDocument/2006/relationships/tableStyles" Target="/ppt/tableStyles.xml" Id="R72ef554e02484370" /><Relationship Type="http://schemas.openxmlformats.org/officeDocument/2006/relationships/slide" Target="/ppt/slides/slide1.xml" Id="R977f35831d5d4620" /><Relationship Type="http://schemas.openxmlformats.org/officeDocument/2006/relationships/slide" Target="/ppt/slides/slide2.xml" Id="R97fa7e692d524fdf" /><Relationship Type="http://schemas.openxmlformats.org/officeDocument/2006/relationships/slide" Target="/ppt/slides/slide3.xml" Id="R530bb172e1f44056" /><Relationship Type="http://schemas.openxmlformats.org/officeDocument/2006/relationships/slide" Target="/ppt/slides/slide4.xml" Id="R1c8695fec6f9497e" /><Relationship Type="http://schemas.openxmlformats.org/officeDocument/2006/relationships/slide" Target="/ppt/slides/slide5.xml" Id="Rf94c307dbf5b47a4" /><Relationship Type="http://schemas.openxmlformats.org/officeDocument/2006/relationships/slide" Target="/ppt/slides/slide6.xml" Id="R76e70302ba0844af" /><Relationship Type="http://schemas.openxmlformats.org/officeDocument/2006/relationships/slide" Target="/ppt/slides/slide7.xml" Id="R91852e4ca9c64957" /><Relationship Type="http://schemas.openxmlformats.org/officeDocument/2006/relationships/slide" Target="/ppt/slides/slide8.xml" Id="Rb8402e2f20424eeb" /><Relationship Type="http://schemas.openxmlformats.org/officeDocument/2006/relationships/slide" Target="/ppt/slides/slide9.xml" Id="Rb8f158e3af774a06" /><Relationship Type="http://schemas.openxmlformats.org/officeDocument/2006/relationships/slide" Target="/ppt/slides/slide10.xml" Id="R8f3a3b88369049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68320fe4104d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ampus">
  <a:themeElements>
    <a:clrScheme name="Campu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mpu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269a9074c94816" /><Relationship Type="http://schemas.openxmlformats.org/officeDocument/2006/relationships/notesMaster" Target="/ppt/notesMasters/notesMaster1.xml" Id="R99943240789f41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b580c4202b4593" /><Relationship Type="http://schemas.openxmlformats.org/officeDocument/2006/relationships/notesMaster" Target="/ppt/notesMasters/notesMaster1.xml" Id="Rcfb26a65e4b54f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e36c541ab14e20" /><Relationship Type="http://schemas.openxmlformats.org/officeDocument/2006/relationships/notesMaster" Target="/ppt/notesMasters/notesMaster1.xml" Id="Ra7d1e454be9b46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efbdda0cda4bb0" /><Relationship Type="http://schemas.openxmlformats.org/officeDocument/2006/relationships/notesMaster" Target="/ppt/notesMasters/notesMaster1.xml" Id="Rdb374eed79d34b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f07f521c5a492c" /><Relationship Type="http://schemas.openxmlformats.org/officeDocument/2006/relationships/notesMaster" Target="/ppt/notesMasters/notesMaster1.xml" Id="R7c846576ffe24c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fb2c2d9e6349cf" /><Relationship Type="http://schemas.openxmlformats.org/officeDocument/2006/relationships/notesMaster" Target="/ppt/notesMasters/notesMaster1.xml" Id="R1746db17109e40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9d3281bd9c45b0" /><Relationship Type="http://schemas.openxmlformats.org/officeDocument/2006/relationships/notesMaster" Target="/ppt/notesMasters/notesMaster1.xml" Id="R277baf6ef2c947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4d8432b766413b" /><Relationship Type="http://schemas.openxmlformats.org/officeDocument/2006/relationships/notesMaster" Target="/ppt/notesMasters/notesMaster1.xml" Id="R902571e9c4ec45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d310ba03034982" /><Relationship Type="http://schemas.openxmlformats.org/officeDocument/2006/relationships/notesMaster" Target="/ppt/notesMasters/notesMaster1.xml" Id="R6fc5b4b2b9764a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60b50875734e28" /><Relationship Type="http://schemas.openxmlformats.org/officeDocument/2006/relationships/notesMaster" Target="/ppt/notesMasters/notesMaster1.xml" Id="Rd7e1d8be34b2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Profesor, presento Campus, una aplicación de solicitudes académicas para la PA1 de Programación Web II. Soy Angel Fernando Reyes Moreno, de la sección 4060.202620. La solución reúne registro, consulta, validación y consumo de una API externa. Los datos utilizados son ficticios y corresponden a una demostración educativa.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 README.md y consigna de la PA1.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caso organiza solicitudes de constancias de estudios, certificados de notas, cambios de horario y reservas de matrícula. El procedimiento parte de los modelos TypeScript, continúa con los componentes y servicios, incorpora el formulario y sus rutas, y termina con la consulta REST. Los seis registros iniciales permiten revisar el listado y sus filtros. Cada solicitud nueva comienza en estado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 src/app/core/models/solicitud.model.ts y evidencias/capturas/01-solicitudes.png.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esta actividad explico la estructura de los datos. Estudiante agrupa nombre, código y correo; NuevaSolicitud representa la entrada del formulario; Solicitud incorpora identificador, estado y fecha. Las uniones limitan los estados y la configuración strict comprueba los tipos. Las utilidades aplican const, let, funciones flecha, desestructuración y spread. Los módulos ES organizan las importaciones y exportaciones.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 src/app/core/models/solicitud.model.ts, src/app/core/utils/solicitud.utils.ts y tsconfig.json.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aplicación separa las pantallas en componentes y agrupa el proceso académico en SolicitudesModule. SolicitudesService centraliza los registros y Angular entrega su instancia mediante inyección de dependencias. Las plantillas conectan los datos con interpolación, propiedades, eventos y directivas. Los filtros utilizan ngModel; el registro utiliza controles de un formulario reactivo.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 src/app/features/solicitudes/solicitudes.module.ts, src/app/core/services/solicitudes.service.ts y src/app/features/solicitudes/lista-solicitudes.component.html.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formulario definido con FormBuilder verifica los campos antes de registrar. El nombre requiere al menos tres caracteres útiles; el código, una A mayúscula seguida de ocho dígitos; el correo debe tener un formato válido. El asunto requiere cinco caracteres útiles y la descripción, veinte. Un ingreso formado solo por espacios no cumple las reglas. Los mensajes por campo permiten identificar qué dato corregir.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 src/app/features/solicitudes/nueva-solicitud.component.ts, src/app/features/solicitudes/solicitud.validators.ts y evidencias/capturas/02-validaciones.png.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solicitud válida recibe un identificador, la fecha de creación y el estado Pendiente. RouterModule conduce a su detalle mediante la ruta :id. La ruta nueva aparece antes de la dinámica para evitar ambigüedades. El servicio guarda en localStorage antes de actualizar la vista. El registro permanece al recargar en el mismo navegador y origen. Si el almacenamiento falla, se informa el problema sin anunciar un guardado exitoso.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 src/app/features/solicitudes/solicitudes.module.ts, src/app/core/services/solicitudes.service.ts y evidencias/capturas/03-registro-exitoso.png.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directorio consulta el recurso users de JSONPlaceholder mediante HttpClient. La evidencia registra una respuesta HTTP 200 y diez usuarios ficticios. Estos contactos son independientes de las solicitudes locales. El servicio recibe unknown y valida la estructura del JSON. El componente convierte la primera respuesta del Observable con firstValueFrom para utilizar async/await y manejar carga, error y finalización.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 src/app/core/services/directorio.service.ts, src/app/features/directorio/directorio.component.ts y evidencias/consumo-api-real.json.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aplicación muestra los errores de consulta y permite reintentar. La captura corresponde a un HTTP 503 simulado durante una prueba controlada. El tiempo máximo de espera es de doce segundos. Se conserva Angular 16 por el alcance del caso; Angular CLI gestiona la compilación con Webpack. La integración con un backend Node.js se plantea como etapa posterior, pues la PA1 no exige implementarlo.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 angular.json, src/app/core/services/directorio.service.ts, evidencias/capturas/05-error-api-simulado.png y consigna de la PA1.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Adjunto resultados de tipado, compilación y dieciocho pruebas de navegador aprobadas. Los escenarios revisan validación, registro, persistencia, navegación y manejo de errores. La prueba contra la API real se diferencia de las respuestas controladas para comprobar fallos. Las capturas muestran la aplicación en escritorio y móvil. El README contiene las instrucciones para reproducir la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 evidencias/tipado.txt, evidencias/compilacion.txt, evidencias/pruebas.txt, tests/solicitudes.spec.ts y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relaciona las cuatro actividades de la PA1 con un recorrido funcional de registro y consulta. TypeScript establece la estructura de los datos, Angular organiza las pantallas y los servicios, el formulario aplica validaciones y HttpClient consulta una fuente externa. La persistencia actual pertenece al navegador. Un backend con autenticación y una base central permitiría compartir solicitudes y administrar cambios de estado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Referencias: README.md y docs/ARQUITECTURA.md.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5e86964504d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6aa94ed614657" /><Relationship Type="http://schemas.openxmlformats.org/officeDocument/2006/relationships/slideLayout" Target="/ppt/slideLayouts/slideLayout1.xml" Id="R3e0a2ecbd4b64b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0a2ecbd4b64b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ampus">
  <a:themeElements>
    <a:clrScheme name="Campu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mpu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ee09806204ece" /><Relationship Type="http://schemas.openxmlformats.org/officeDocument/2006/relationships/image" Target="/ppt/media/image.jpeg" Id="R8ea3d8adc1c74010" /><Relationship Type="http://schemas.openxmlformats.org/officeDocument/2006/relationships/notesSlide" Target="/ppt/notesSlides/notesSlide1.xml" Id="Rc72c53cd68b242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8d8154dbc42e7" /><Relationship Type="http://schemas.openxmlformats.org/officeDocument/2006/relationships/image" Target="/ppt/media/image.png" Id="Rd99f4a9eb4794064" /><Relationship Type="http://schemas.openxmlformats.org/officeDocument/2006/relationships/notesSlide" Target="/ppt/notesSlides/notesSlide2.xml" Id="R137a2acd969b43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24480a7454b0b" /><Relationship Type="http://schemas.openxmlformats.org/officeDocument/2006/relationships/notesSlide" Target="/ppt/notesSlides/notesSlide3.xml" Id="R3e8063c3fe2644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b38dbbec04cbb" /><Relationship Type="http://schemas.openxmlformats.org/officeDocument/2006/relationships/notesSlide" Target="/ppt/notesSlides/notesSlide4.xml" Id="Rb369d2e5149a4d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13a6b0f734a65" /><Relationship Type="http://schemas.openxmlformats.org/officeDocument/2006/relationships/image" Target="/ppt/media/image2.png" Id="R6b5e949898534b9a" /><Relationship Type="http://schemas.openxmlformats.org/officeDocument/2006/relationships/notesSlide" Target="/ppt/notesSlides/notesSlide5.xml" Id="R3e00b7d77d5f40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b47818226495d" /><Relationship Type="http://schemas.openxmlformats.org/officeDocument/2006/relationships/image" Target="/ppt/media/image3.png" Id="R07adf09cc3e347e1" /><Relationship Type="http://schemas.openxmlformats.org/officeDocument/2006/relationships/notesSlide" Target="/ppt/notesSlides/notesSlide6.xml" Id="R7afaf026288a4e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15f3857ae4110" /><Relationship Type="http://schemas.openxmlformats.org/officeDocument/2006/relationships/image" Target="/ppt/media/image4.png" Id="R9abcc1686d094c51" /><Relationship Type="http://schemas.openxmlformats.org/officeDocument/2006/relationships/notesSlide" Target="/ppt/notesSlides/notesSlide7.xml" Id="Rb2eff166387745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fd34d0c47415b" /><Relationship Type="http://schemas.openxmlformats.org/officeDocument/2006/relationships/image" Target="/ppt/media/image5.png" Id="R932031d661554ebc" /><Relationship Type="http://schemas.openxmlformats.org/officeDocument/2006/relationships/notesSlide" Target="/ppt/notesSlides/notesSlide8.xml" Id="R322dd06d70124e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89e0456d9403f" /><Relationship Type="http://schemas.openxmlformats.org/officeDocument/2006/relationships/image" Target="/ppt/media/image6.png" Id="Rb8eb53eaefc740c8" /><Relationship Type="http://schemas.openxmlformats.org/officeDocument/2006/relationships/notesSlide" Target="/ppt/notesSlides/notesSlide9.xml" Id="Rf364e00af8ee48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9538f53974c57" /><Relationship Type="http://schemas.openxmlformats.org/officeDocument/2006/relationships/notesSlide" Target="/ppt/notesSlides/notesSlide10.xml" Id="Raf2a1833bfee48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o-0">
            <a:extLst xmlns:a="http://schemas.openxmlformats.org/drawingml/2006/main">
              <a:ext uri="{FF2B5EF4-FFF2-40B4-BE49-F238E27FC236}">
                <a16:creationId xmlns:a16="http://schemas.microsoft.com/office/drawing/2014/main" id="{CCD90228-78BB-4073-8B0E-F6F1A564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PRESENTACIÓN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232935E5-F3E3-424D-9731-D7D1D278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Campus  /  Programación Web II  /  PA1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CCC97630-ACD0-4302-A1F0-C06F3A43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F18A2FB9-8662-42CC-984F-912EA2BC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8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Campus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56BECA3A-1BDE-4DFB-B394-055CA1D2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Gestión de solicitudes académicas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944EB363-90B9-4622-A166-5F69637A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Angel Fernando Reyes Moreno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6C1D3BC0-2166-409E-BC6C-40DFE91A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Sección </a:t>
            </a:r>
            <a:r>
              <a:rPr sz="157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4060.202620</a:t>
            </a:r>
            <a:r>
              <a:rPr sz="157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  ·  Docente Wilder Julio Espinoza Bravo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3d8adc1c74010"/>
          <a:stretch xmlns:a="http://schemas.openxmlformats.org/drawingml/2006/main"/>
        </p:blipFill>
        <p:spPr>
          <a:xfrm xmlns:a="http://schemas.openxmlformats.org/drawingml/2006/main">
            <a:off x="2603500" y="3448050"/>
            <a:ext cx="6985000" cy="2514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7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o-0">
            <a:extLst xmlns:a="http://schemas.openxmlformats.org/drawingml/2006/main">
              <a:ext uri="{FF2B5EF4-FFF2-40B4-BE49-F238E27FC236}">
                <a16:creationId xmlns:a16="http://schemas.microsoft.com/office/drawing/2014/main" id="{9F6433D1-6036-45F1-9C5A-7A62BFEE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OBJETIVO Y DESARROLLO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72EA94AD-E804-406B-AF1F-D9850D1A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El caso y el procedimiento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F06755D0-95B2-4D51-8AF8-CFCE5563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Campus  /  Programación Web II  /  PA1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5103FA50-FEFF-49D0-AAD1-7750BC5A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80F77C81-C164-4B95-AEB7-14BCE8EF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Trámites académicos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7D265835-4385-4226-8180-9A64C22C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Registrar, buscar y consultar solicitudes académicas.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36A631A7-DB41-45C3-B29A-BE4B01CA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Cuatro pasos técnicos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1799B56C-6F3D-48FF-B8CA-78F080AB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Modelos → componentes → formulario y rutas → API.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5D5CFFC6-391F-46BE-8B47-3A6A330C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6 registros iniciales de ejemplo.</a:t>
            </a:r>
          </a:p>
          <a:p xmlns:a="http://schemas.openxmlformats.org/drawingml/2006/main">
            <a:pPr>
              <a:buNone/>
              <a:defRPr sz="165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Cada solicitud nueva inicia Pendiente.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f4a9eb4794064"/>
          <a:stretch xmlns:a="http://schemas.openxmlformats.org/drawingml/2006/main"/>
        </p:blipFill>
        <p:spPr>
          <a:xfrm xmlns:a="http://schemas.openxmlformats.org/drawingml/2006/main">
            <a:off x="4619299" y="1609725"/>
            <a:ext cx="6811027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81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o-0">
            <a:extLst xmlns:a="http://schemas.openxmlformats.org/drawingml/2006/main">
              <a:ext uri="{FF2B5EF4-FFF2-40B4-BE49-F238E27FC236}">
                <a16:creationId xmlns:a16="http://schemas.microsoft.com/office/drawing/2014/main" id="{BED243C6-080A-47C1-9885-9B778663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ACTIVIDAD 1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99EAD25E-C78F-451F-8BDD-F1A49280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TypeScript define los datos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93E7C549-F690-4EED-BDAD-E40BFF34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Campus  /  Programación Web II  /  PA1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E92C142D-0913-4902-A422-6C23BFF7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EACED6E3-CE5A-4E34-8D13-05E6F2D3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Datos con una estructura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52A88970-7F2C-467C-AB8F-9E4460AE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Estudiante → NuevaSolicitud → Solicitud registrada.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35A346CA-F0EC-454B-9508-9B0658F2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Comprobación de tipos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D5748333-9151-4056-9FF9-4373A022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Estados limitados y configuración strict.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4AA59535-4858-43DE-B773-9042A172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3810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ES6+</a:t>
            </a:r>
          </a:p>
          <a:p xmlns:a="http://schemas.openxmlformats.org/drawingml/2006/main">
            <a:pPr>
              <a:buNone/>
              <a:defRPr sz="165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const · let · funciones flecha</a:t>
            </a:r>
          </a:p>
          <a:p xmlns:a="http://schemas.openxmlformats.org/drawingml/2006/main">
            <a:pPr>
              <a:buNone/>
              <a:defRPr sz="165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desestructuración · spread</a:t>
            </a:r>
          </a:p>
          <a:p xmlns:a="http://schemas.openxmlformats.org/drawingml/2006/main">
            <a:pPr>
              <a:buNone/>
              <a:defRPr sz="165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import / export</a:t>
            </a:r>
          </a:p>
        </p:txBody>
      </p:sp>
      <p:sp>
        <p:nvSpPr>
          <p:cNvPr id="10" name="texto-9">
            <a:extLst xmlns:a="http://schemas.openxmlformats.org/drawingml/2006/main">
              <a:ext uri="{FF2B5EF4-FFF2-40B4-BE49-F238E27FC236}">
                <a16:creationId xmlns:a16="http://schemas.microsoft.com/office/drawing/2014/main" id="{C74EC1EC-06C0-4603-86DD-C13048F0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573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Fragmento de solicitud.model.ts</a:t>
            </a:r>
          </a:p>
        </p:txBody>
      </p:sp>
      <p:sp>
        <p:nvSpPr>
          <p:cNvPr id="11" name="texto-10">
            <a:extLst xmlns:a="http://schemas.openxmlformats.org/drawingml/2006/main">
              <a:ext uri="{FF2B5EF4-FFF2-40B4-BE49-F238E27FC236}">
                <a16:creationId xmlns:a16="http://schemas.microsoft.com/office/drawing/2014/main" id="{886A9D7B-F74D-45F0-863F-F1B8FA17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6477000" cy="381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export interface Estudiante {</a:t>
            </a:r>
          </a:p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  nombre: string;</a:t>
            </a:r>
          </a:p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  codigo: string;</a:t>
            </a:r>
          </a:p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  correo: string;</a:t>
            </a:r>
          </a:p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export interface Solicitud</a:t>
            </a:r>
          </a:p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  extends NuevaSolicitud {</a:t>
            </a:r>
          </a:p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  id: string;</a:t>
            </a:r>
          </a:p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  estado: EstadoSolicitud;</a:t>
            </a:r>
          </a:p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  creadaEn: string;</a:t>
            </a:r>
          </a:p>
          <a:p xmlns:a="http://schemas.openxmlformats.org/drawingml/2006/main">
            <a:pPr>
              <a:buNone/>
              <a:defRPr sz="1950" b="0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B33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61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o-0">
            <a:extLst xmlns:a="http://schemas.openxmlformats.org/drawingml/2006/main">
              <a:ext uri="{FF2B5EF4-FFF2-40B4-BE49-F238E27FC236}">
                <a16:creationId xmlns:a16="http://schemas.microsoft.com/office/drawing/2014/main" id="{FF685923-4175-40F8-89F9-8EC9C177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ACTIVIDAD 2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DF248BEA-8C6A-43DF-B646-BB435C30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Angular organiza la aplicación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85DCCB72-DC9D-4A65-B45B-F87552C5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Campus  /  Programación Web II  /  PA1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A1A60066-35C7-47D7-8E8C-FA2B6348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D59897CA-AE17-416A-B9D8-A02C04E4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Componentes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4D847C39-7DD3-4BFE-94CD-382FD11A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Listado, registro, detalle y directorio.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2A846074-61AE-4851-887C-2C37355A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Servicio compartido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215167DA-DEE6-42B5-BE2E-E220B33E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SolicitudesService centraliza los registros y su almacenamiento.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21A2112B-15F6-4C9D-AD49-EE698CDF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Inyección de dependencias</a:t>
            </a:r>
          </a:p>
        </p:txBody>
      </p:sp>
      <p:sp>
        <p:nvSpPr>
          <p:cNvPr id="10" name="texto-9">
            <a:extLst xmlns:a="http://schemas.openxmlformats.org/drawingml/2006/main">
              <a:ext uri="{FF2B5EF4-FFF2-40B4-BE49-F238E27FC236}">
                <a16:creationId xmlns:a16="http://schemas.microsoft.com/office/drawing/2014/main" id="{3208661E-4600-4AA8-994E-E2FB7757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4191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Angular entrega el servicio a los componentes.</a:t>
            </a:r>
          </a:p>
        </p:txBody>
      </p:sp>
      <p:sp>
        <p:nvSpPr>
          <p:cNvPr id="11" name="texto-10">
            <a:extLst xmlns:a="http://schemas.openxmlformats.org/drawingml/2006/main">
              <a:ext uri="{FF2B5EF4-FFF2-40B4-BE49-F238E27FC236}">
                <a16:creationId xmlns:a16="http://schemas.microsoft.com/office/drawing/2014/main" id="{F6493107-8A89-4632-A52C-760AB1F1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724025"/>
            <a:ext cx="600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Módulo de solicitudes</a:t>
            </a:r>
          </a:p>
        </p:txBody>
      </p:sp>
      <p:sp>
        <p:nvSpPr>
          <p:cNvPr id="12" name="texto-11">
            <a:extLst xmlns:a="http://schemas.openxmlformats.org/drawingml/2006/main">
              <a:ext uri="{FF2B5EF4-FFF2-40B4-BE49-F238E27FC236}">
                <a16:creationId xmlns:a16="http://schemas.microsoft.com/office/drawing/2014/main" id="{D7A2CF2F-A328-4461-9153-67DBB5F3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76475"/>
            <a:ext cx="6000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CommonModule</a:t>
            </a:r>
          </a:p>
          <a:p xmlns:a="http://schemas.openxmlformats.org/drawingml/2006/main">
            <a:pPr>
              <a:buNone/>
              <a:defRPr sz="2100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FormsModule</a:t>
            </a:r>
          </a:p>
          <a:p xmlns:a="http://schemas.openxmlformats.org/drawingml/2006/main">
            <a:pPr>
              <a:buNone/>
              <a:defRPr sz="2100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ReactiveFormsModule</a:t>
            </a:r>
          </a:p>
          <a:p xmlns:a="http://schemas.openxmlformats.org/drawingml/2006/main">
            <a:pPr>
              <a:buNone/>
              <a:defRPr sz="2100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SharedModule</a:t>
            </a:r>
          </a:p>
          <a:p xmlns:a="http://schemas.openxmlformats.org/drawingml/2006/main">
            <a:pPr>
              <a:buNone/>
              <a:defRPr sz="2100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RouterModule.forChild(...)</a:t>
            </a:r>
          </a:p>
        </p:txBody>
      </p:sp>
      <p:sp>
        <p:nvSpPr>
          <p:cNvPr id="13" name="texto-12">
            <a:extLst xmlns:a="http://schemas.openxmlformats.org/drawingml/2006/main">
              <a:ext uri="{FF2B5EF4-FFF2-40B4-BE49-F238E27FC236}">
                <a16:creationId xmlns:a16="http://schemas.microsoft.com/office/drawing/2014/main" id="{AC2BBB9C-82D8-43E9-96C3-7769362E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76750"/>
            <a:ext cx="600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Plantillas conectadas a los datos</a:t>
            </a:r>
          </a:p>
        </p:txBody>
      </p:sp>
      <p:sp>
        <p:nvSpPr>
          <p:cNvPr id="14" name="texto-13">
            <a:extLst xmlns:a="http://schemas.openxmlformats.org/drawingml/2006/main">
              <a:ext uri="{FF2B5EF4-FFF2-40B4-BE49-F238E27FC236}">
                <a16:creationId xmlns:a16="http://schemas.microsoft.com/office/drawing/2014/main" id="{36F1EDC1-BB13-4567-B464-10D101FC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292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{{ valor }}  ·  [propiedad]  ·  (evento)</a:t>
            </a:r>
          </a:p>
          <a:p xmlns:a="http://schemas.openxmlformats.org/drawingml/2006/main">
            <a:pPr>
              <a:buNone/>
              <a:defRPr sz="1950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*ngFor  ·  *ngIf  ·  [(ngModel)]</a:t>
            </a:r>
          </a:p>
        </p:txBody>
      </p:sp>
    </p:spTree>
    <p:extLst>
      <p:ext uri="{BB962C8B-B14F-4D97-AF65-F5344CB8AC3E}">
        <p14:creationId xmlns:p14="http://schemas.microsoft.com/office/powerpoint/2010/main" val="2126974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o-0">
            <a:extLst xmlns:a="http://schemas.openxmlformats.org/drawingml/2006/main">
              <a:ext uri="{FF2B5EF4-FFF2-40B4-BE49-F238E27FC236}">
                <a16:creationId xmlns:a16="http://schemas.microsoft.com/office/drawing/2014/main" id="{A9E10EEF-C433-462E-AB04-DEAE742E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ACTIVIDAD 3 · FORMULARIO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D345ACDC-47D0-4CD5-98E6-C8DA6560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Validar antes de registrar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612E957C-F3A4-4DB1-9490-1CFCE033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Campus  /  Programación Web II  /  PA1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D9E552D7-677D-49F4-85BD-A9E35C3A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A8AFE0E0-AB8E-4889-A42E-5D3DE922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Reglas explícitas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57014D44-6C94-4364-A0F4-A8B8EF8C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Nombre útil, código válido, correo y detalle del trámite.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0F39CA27-5DE5-4860-94FA-F4103180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Antes de guardar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E2569728-290C-4403-85E5-5AAC49D3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markAllAsTouched()</a:t>
            </a:r>
          </a:p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Si el formulario es inválido, se detiene.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72A5985E-912C-4ECE-B190-43C6B415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361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DEMOSTRACIÓN</a:t>
            </a:r>
          </a:p>
          <a:p xmlns:a="http://schemas.openxmlformats.org/drawingml/2006/main">
            <a:pPr>
              <a:buNone/>
              <a:defRPr sz="1575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Intentar vacío → corregir → completar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e949898534b9a"/>
          <a:stretch xmlns:a="http://schemas.openxmlformats.org/drawingml/2006/main"/>
        </p:blipFill>
        <p:spPr>
          <a:xfrm xmlns:a="http://schemas.openxmlformats.org/drawingml/2006/main">
            <a:off x="4600575" y="2329078"/>
            <a:ext cx="6953250" cy="2542744"/>
          </a:xfrm>
          <a:prstGeom xmlns:a="http://schemas.openxmlformats.org/drawingml/2006/main" prst="rect">
            <a:avLst/>
          </a:prstGeom>
        </p:spPr>
      </p:pic>
      <p:sp>
        <p:nvSpPr>
          <p:cNvPr id="11" name="texto-9">
            <a:extLst xmlns:a="http://schemas.openxmlformats.org/drawingml/2006/main">
              <a:ext uri="{FF2B5EF4-FFF2-40B4-BE49-F238E27FC236}">
                <a16:creationId xmlns:a16="http://schemas.microsoft.com/office/drawing/2014/main" id="{2D800AB4-5944-4A19-B97D-8EE0F6F3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59117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Validaciones reales de los datos del estudiante</a:t>
            </a:r>
          </a:p>
        </p:txBody>
      </p:sp>
    </p:spTree>
    <p:extLst>
      <p:ext uri="{BB962C8B-B14F-4D97-AF65-F5344CB8AC3E}">
        <p14:creationId xmlns:p14="http://schemas.microsoft.com/office/powerpoint/2010/main" val="1425128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o-0">
            <a:extLst xmlns:a="http://schemas.openxmlformats.org/drawingml/2006/main">
              <a:ext uri="{FF2B5EF4-FFF2-40B4-BE49-F238E27FC236}">
                <a16:creationId xmlns:a16="http://schemas.microsoft.com/office/drawing/2014/main" id="{B12FCB70-A485-47EF-ACB1-52342A9F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ACTIVIDAD 3 · RUTAS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D00D44C5-1C07-4F3C-843A-3510D80E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Registro y navegación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933D96D0-2A7A-4518-BCA8-204FB6E3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Campus  /  Programación Web II  /  PA1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76AED76B-9E09-4D41-B261-0763E6BA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2A1E57B5-677E-4607-B0EB-75DCFE15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Nueva solicitud → detalle → listado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df09cc3e347e1"/>
          <a:stretch xmlns:a="http://schemas.openxmlformats.org/drawingml/2006/main"/>
        </p:blipFill>
        <p:spPr>
          <a:xfrm xmlns:a="http://schemas.openxmlformats.org/drawingml/2006/main">
            <a:off x="845344" y="2333625"/>
            <a:ext cx="6786563" cy="3571875"/>
          </a:xfrm>
          <a:prstGeom xmlns:a="http://schemas.openxmlformats.org/drawingml/2006/main" prst="rect">
            <a:avLst/>
          </a:prstGeom>
        </p:spPr>
      </p:pic>
      <p:sp>
        <p:nvSpPr>
          <p:cNvPr id="7" name="texto-5">
            <a:extLst xmlns:a="http://schemas.openxmlformats.org/drawingml/2006/main">
              <a:ext uri="{FF2B5EF4-FFF2-40B4-BE49-F238E27FC236}">
                <a16:creationId xmlns:a16="http://schemas.microsoft.com/office/drawing/2014/main" id="{B146AEC4-526C-4F46-A5D8-41409602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RouterModule</a:t>
            </a:r>
          </a:p>
        </p:txBody>
      </p:sp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85D06470-CF69-437A-840F-9F3D6F5C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Rutas nueva y :id. El identificador abre el detalle.</a:t>
            </a:r>
          </a:p>
        </p:txBody>
      </p:sp>
      <p:sp>
        <p:nvSpPr>
          <p:cNvPr id="9" name="texto-7">
            <a:extLst xmlns:a="http://schemas.openxmlformats.org/drawingml/2006/main">
              <a:ext uri="{FF2B5EF4-FFF2-40B4-BE49-F238E27FC236}">
                <a16:creationId xmlns:a16="http://schemas.microsoft.com/office/drawing/2014/main" id="{4B649EFD-8D64-4F36-88E7-AD6ACAC9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290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localStorage</a:t>
            </a:r>
          </a:p>
        </p:txBody>
      </p:sp>
      <p:sp>
        <p:nvSpPr>
          <p:cNvPr id="10" name="texto-8">
            <a:extLst xmlns:a="http://schemas.openxmlformats.org/drawingml/2006/main">
              <a:ext uri="{FF2B5EF4-FFF2-40B4-BE49-F238E27FC236}">
                <a16:creationId xmlns:a16="http://schemas.microsoft.com/office/drawing/2014/main" id="{A2BA1E9E-DAAC-470C-8908-6BE0AC32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6722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El registro persiste al recargar en este navegador.</a:t>
            </a:r>
          </a:p>
        </p:txBody>
      </p:sp>
    </p:spTree>
    <p:extLst>
      <p:ext uri="{BB962C8B-B14F-4D97-AF65-F5344CB8AC3E}">
        <p14:creationId xmlns:p14="http://schemas.microsoft.com/office/powerpoint/2010/main" val="14886970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o-0">
            <a:extLst xmlns:a="http://schemas.openxmlformats.org/drawingml/2006/main">
              <a:ext uri="{FF2B5EF4-FFF2-40B4-BE49-F238E27FC236}">
                <a16:creationId xmlns:a16="http://schemas.microsoft.com/office/drawing/2014/main" id="{EF09F14F-BB2E-4CDE-8D0C-FD9115E4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ACTIVIDAD 4 · HTTPCLIENT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D665DEC7-ABB3-4A26-9410-D16C668B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Una consulta REST real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78CBD04D-CBCD-44EE-BF1C-AF27FBDD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Campus  /  Programación Web II  /  PA1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0C413F60-277E-4000-B20A-09D84393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DCDC321B-A950-4D4C-A64E-9D92716B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GET  https://jsonplaceholder.typicode.com/users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cc1686d094c51"/>
          <a:stretch xmlns:a="http://schemas.openxmlformats.org/drawingml/2006/main"/>
        </p:blipFill>
        <p:spPr>
          <a:xfrm xmlns:a="http://schemas.openxmlformats.org/drawingml/2006/main">
            <a:off x="571500" y="2504810"/>
            <a:ext cx="7381875" cy="3267604"/>
          </a:xfrm>
          <a:prstGeom xmlns:a="http://schemas.openxmlformats.org/drawingml/2006/main" prst="rect">
            <a:avLst/>
          </a:prstGeom>
        </p:spPr>
      </p:pic>
      <p:sp>
        <p:nvSpPr>
          <p:cNvPr id="7" name="texto-5">
            <a:extLst xmlns:a="http://schemas.openxmlformats.org/drawingml/2006/main">
              <a:ext uri="{FF2B5EF4-FFF2-40B4-BE49-F238E27FC236}">
                <a16:creationId xmlns:a16="http://schemas.microsoft.com/office/drawing/2014/main" id="{7F785FE8-C838-4172-B621-90899084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0505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HTTP 200 · 10 usuarios</a:t>
            </a:r>
          </a:p>
        </p:txBody>
      </p:sp>
      <p:sp>
        <p:nvSpPr>
          <p:cNvPr id="8" name="texto-6">
            <a:extLst xmlns:a="http://schemas.openxmlformats.org/drawingml/2006/main">
              <a:ext uri="{FF2B5EF4-FFF2-40B4-BE49-F238E27FC236}">
                <a16:creationId xmlns:a16="http://schemas.microsoft.com/office/drawing/2014/main" id="{27D826CA-F7DA-4453-AA49-8178AAA5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43200"/>
            <a:ext cx="319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Respuesta real documentada. Contactos ficticios de prueba.</a:t>
            </a:r>
          </a:p>
        </p:txBody>
      </p:sp>
      <p:sp>
        <p:nvSpPr>
          <p:cNvPr id="9" name="texto-7">
            <a:extLst xmlns:a="http://schemas.openxmlformats.org/drawingml/2006/main">
              <a:ext uri="{FF2B5EF4-FFF2-40B4-BE49-F238E27FC236}">
                <a16:creationId xmlns:a16="http://schemas.microsoft.com/office/drawing/2014/main" id="{8CDD76DD-6DFF-4A67-8C76-4803A991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0005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HttpClient + async/await</a:t>
            </a:r>
          </a:p>
        </p:txBody>
      </p:sp>
      <p:sp>
        <p:nvSpPr>
          <p:cNvPr id="10" name="texto-8">
            <a:extLst xmlns:a="http://schemas.openxmlformats.org/drawingml/2006/main">
              <a:ext uri="{FF2B5EF4-FFF2-40B4-BE49-F238E27FC236}">
                <a16:creationId xmlns:a16="http://schemas.microsoft.com/office/drawing/2014/main" id="{8C72F783-FB56-4EAF-9788-456F9275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38650"/>
            <a:ext cx="319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Observable → firstValueFrom. Se valida el JSON recibido.</a:t>
            </a:r>
          </a:p>
        </p:txBody>
      </p:sp>
    </p:spTree>
    <p:extLst>
      <p:ext uri="{BB962C8B-B14F-4D97-AF65-F5344CB8AC3E}">
        <p14:creationId xmlns:p14="http://schemas.microsoft.com/office/powerpoint/2010/main" val="1192143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o-0">
            <a:extLst xmlns:a="http://schemas.openxmlformats.org/drawingml/2006/main">
              <a:ext uri="{FF2B5EF4-FFF2-40B4-BE49-F238E27FC236}">
                <a16:creationId xmlns:a16="http://schemas.microsoft.com/office/drawing/2014/main" id="{63AA2F69-4052-4814-821A-09B97898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ROBUSTEZ Y ALCANCE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21F658AB-87C6-4B48-898F-6A069870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Errores y decisiones técnicas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76EEC9D5-0170-4431-907E-D02DAE8A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Campus  /  Programación Web II  /  PA1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00534ACE-CCD8-499F-8FDD-890DD29F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885DE37E-CAB2-48AF-B185-671A22FB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Error y reintento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2CF57776-5ECC-46CB-8E12-1540F428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3952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Tiempo máximo: 12 segundos. El usuario puede reintentar.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E2108DF6-994D-47A2-8E86-FBE98EB5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395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Angular 16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AC2CB1FD-0C71-4484-98F9-284CE8EA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57600"/>
            <a:ext cx="3952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CLI y Webpack para compilar; strict y source maps para revisar.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35E98B9B-22F8-4512-8D44-62C1824C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395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Backend Node.js: etapa posterior.</a:t>
            </a:r>
          </a:p>
          <a:p xmlns:a="http://schemas.openxmlformats.org/drawingml/2006/main">
            <a:pPr>
              <a:buNone/>
              <a:defRPr sz="17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La PA1 no lo exige.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031d661554ebc"/>
          <a:stretch xmlns:a="http://schemas.openxmlformats.org/drawingml/2006/main"/>
        </p:blipFill>
        <p:spPr>
          <a:xfrm xmlns:a="http://schemas.openxmlformats.org/drawingml/2006/main">
            <a:off x="5000625" y="2657757"/>
            <a:ext cx="6572250" cy="1913962"/>
          </a:xfrm>
          <a:prstGeom xmlns:a="http://schemas.openxmlformats.org/drawingml/2006/main" prst="rect">
            <a:avLst/>
          </a:prstGeom>
        </p:spPr>
      </p:pic>
      <p:sp>
        <p:nvSpPr>
          <p:cNvPr id="11" name="texto-9">
            <a:extLst xmlns:a="http://schemas.openxmlformats.org/drawingml/2006/main">
              <a:ext uri="{FF2B5EF4-FFF2-40B4-BE49-F238E27FC236}">
                <a16:creationId xmlns:a16="http://schemas.microsoft.com/office/drawing/2014/main" id="{14BE6243-08F8-48AC-BE54-B10B6E6D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448300"/>
            <a:ext cx="657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HTTP 503 simulado para comprobar el manejo de errores</a:t>
            </a:r>
          </a:p>
        </p:txBody>
      </p:sp>
    </p:spTree>
    <p:extLst>
      <p:ext uri="{BB962C8B-B14F-4D97-AF65-F5344CB8AC3E}">
        <p14:creationId xmlns:p14="http://schemas.microsoft.com/office/powerpoint/2010/main" val="1511525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o-0">
            <a:extLst xmlns:a="http://schemas.openxmlformats.org/drawingml/2006/main">
              <a:ext uri="{FF2B5EF4-FFF2-40B4-BE49-F238E27FC236}">
                <a16:creationId xmlns:a16="http://schemas.microsoft.com/office/drawing/2014/main" id="{9ED3E830-F29F-42A7-83C7-0637BEA2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VERIFICACIÓN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34DE3D87-19CB-4790-AF4C-0D6E1516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Evidencias de funcionamiento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277CA9D4-D689-487B-BA3E-3426DA3D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Campus  /  Programación Web II  /  PA1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C768924E-6320-46D9-9216-1AEE2BAC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32F277E2-C46E-4EDB-AC74-CA376F0E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342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5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85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4182C4C3-16A0-4956-8A01-0CCD2F1D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pruebas aprobadas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6A427E80-3DB9-47F5-90C5-54CCD00C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9570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Resultado guardado en evidencias/pruebas.txt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7F1AF9B7-2925-438A-A95E-6C9BFA5A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Tipado y compilación correctos</a:t>
            </a:r>
          </a:p>
          <a:p xmlns:a="http://schemas.openxmlformats.org/drawingml/2006/main">
            <a:pPr>
              <a:buNone/>
              <a:defRPr sz="20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Validación, registro y persistencia</a:t>
            </a:r>
          </a:p>
          <a:p xmlns:a="http://schemas.openxmlformats.org/drawingml/2006/main">
            <a:pPr>
              <a:buNone/>
              <a:defRPr sz="20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Consulta real y fallos controlados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b53eaefc740c8"/>
          <a:stretch xmlns:a="http://schemas.openxmlformats.org/drawingml/2006/main"/>
        </p:blipFill>
        <p:spPr>
          <a:xfrm xmlns:a="http://schemas.openxmlformats.org/drawingml/2006/main">
            <a:off x="9165949" y="1619250"/>
            <a:ext cx="927652" cy="426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591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o-0">
            <a:extLst xmlns:a="http://schemas.openxmlformats.org/drawingml/2006/main">
              <a:ext uri="{FF2B5EF4-FFF2-40B4-BE49-F238E27FC236}">
                <a16:creationId xmlns:a16="http://schemas.microsoft.com/office/drawing/2014/main" id="{F2104E25-C0B0-4C42-BE91-CB45301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7066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" name="texto-1">
            <a:extLst xmlns:a="http://schemas.openxmlformats.org/drawingml/2006/main">
              <a:ext uri="{FF2B5EF4-FFF2-40B4-BE49-F238E27FC236}">
                <a16:creationId xmlns:a16="http://schemas.microsoft.com/office/drawing/2014/main" id="{C4B9AC3A-1E40-4D59-BEB4-2ADB9BC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3" name="texto-2">
            <a:extLst xmlns:a="http://schemas.openxmlformats.org/drawingml/2006/main">
              <a:ext uri="{FF2B5EF4-FFF2-40B4-BE49-F238E27FC236}">
                <a16:creationId xmlns:a16="http://schemas.microsoft.com/office/drawing/2014/main" id="{13A12538-EE55-484E-A63B-D5014E31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Campus  /  Programación Web II  /  PA1</a:t>
            </a:r>
          </a:p>
        </p:txBody>
      </p:sp>
      <p:sp>
        <p:nvSpPr>
          <p:cNvPr id="4" name="texto-3">
            <a:extLst xmlns:a="http://schemas.openxmlformats.org/drawingml/2006/main">
              <a:ext uri="{FF2B5EF4-FFF2-40B4-BE49-F238E27FC236}">
                <a16:creationId xmlns:a16="http://schemas.microsoft.com/office/drawing/2014/main" id="{B77A6996-043A-4F85-B037-A50A37F4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5" name="texto-4">
            <a:extLst xmlns:a="http://schemas.openxmlformats.org/drawingml/2006/main">
              <a:ext uri="{FF2B5EF4-FFF2-40B4-BE49-F238E27FC236}">
                <a16:creationId xmlns:a16="http://schemas.microsoft.com/office/drawing/2014/main" id="{911D47BE-43CB-4BEC-8321-0B8F3512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TypeScript</a:t>
            </a:r>
          </a:p>
        </p:txBody>
      </p:sp>
      <p:sp>
        <p:nvSpPr>
          <p:cNvPr id="6" name="texto-5">
            <a:extLst xmlns:a="http://schemas.openxmlformats.org/drawingml/2006/main">
              <a:ext uri="{FF2B5EF4-FFF2-40B4-BE49-F238E27FC236}">
                <a16:creationId xmlns:a16="http://schemas.microsoft.com/office/drawing/2014/main" id="{0F791C60-EB1C-47C0-961D-E487822A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Estructura y control de tipos.</a:t>
            </a:r>
          </a:p>
        </p:txBody>
      </p:sp>
      <p:sp>
        <p:nvSpPr>
          <p:cNvPr id="7" name="texto-6">
            <a:extLst xmlns:a="http://schemas.openxmlformats.org/drawingml/2006/main">
              <a:ext uri="{FF2B5EF4-FFF2-40B4-BE49-F238E27FC236}">
                <a16:creationId xmlns:a16="http://schemas.microsoft.com/office/drawing/2014/main" id="{15F3EE3A-D12F-4A12-B8CC-8323E64E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289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Angular</a:t>
            </a:r>
          </a:p>
        </p:txBody>
      </p:sp>
      <p:sp>
        <p:nvSpPr>
          <p:cNvPr id="8" name="texto-7">
            <a:extLst xmlns:a="http://schemas.openxmlformats.org/drawingml/2006/main">
              <a:ext uri="{FF2B5EF4-FFF2-40B4-BE49-F238E27FC236}">
                <a16:creationId xmlns:a16="http://schemas.microsoft.com/office/drawing/2014/main" id="{9DC3A176-9BFC-44C5-924D-549AD5F7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Componentes, servicios y navegación.</a:t>
            </a:r>
          </a:p>
        </p:txBody>
      </p:sp>
      <p:sp>
        <p:nvSpPr>
          <p:cNvPr id="9" name="texto-8">
            <a:extLst xmlns:a="http://schemas.openxmlformats.org/drawingml/2006/main">
              <a:ext uri="{FF2B5EF4-FFF2-40B4-BE49-F238E27FC236}">
                <a16:creationId xmlns:a16="http://schemas.microsoft.com/office/drawing/2014/main" id="{D8E24D65-B2CF-4236-B3F7-156ABD72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2402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Formularios reactivos</a:t>
            </a:r>
          </a:p>
        </p:txBody>
      </p:sp>
      <p:sp>
        <p:nvSpPr>
          <p:cNvPr id="10" name="texto-9">
            <a:extLst xmlns:a="http://schemas.openxmlformats.org/drawingml/2006/main">
              <a:ext uri="{FF2B5EF4-FFF2-40B4-BE49-F238E27FC236}">
                <a16:creationId xmlns:a16="http://schemas.microsoft.com/office/drawing/2014/main" id="{5361A22F-DACF-4F43-8370-42826B17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62175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Datos válidos antes de registrar.</a:t>
            </a:r>
          </a:p>
        </p:txBody>
      </p:sp>
      <p:sp>
        <p:nvSpPr>
          <p:cNvPr id="11" name="texto-10">
            <a:extLst xmlns:a="http://schemas.openxmlformats.org/drawingml/2006/main">
              <a:ext uri="{FF2B5EF4-FFF2-40B4-BE49-F238E27FC236}">
                <a16:creationId xmlns:a16="http://schemas.microsoft.com/office/drawing/2014/main" id="{5962C609-4421-471A-82F2-27C5CA0E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API REST</a:t>
            </a:r>
          </a:p>
        </p:txBody>
      </p:sp>
      <p:sp>
        <p:nvSpPr>
          <p:cNvPr id="12" name="texto-11">
            <a:extLst xmlns:a="http://schemas.openxmlformats.org/drawingml/2006/main">
              <a:ext uri="{FF2B5EF4-FFF2-40B4-BE49-F238E27FC236}">
                <a16:creationId xmlns:a16="http://schemas.microsoft.com/office/drawing/2014/main" id="{70969DD0-DB4C-4429-96BA-24F326E4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67125"/>
            <a:ext cx="5095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4383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830"/>
                </a:solidFill>
                <a:latin typeface="Arial"/>
                <a:ea typeface="Arial"/>
                <a:cs typeface="Arial"/>
              </a:rPr>
              <a:t>Consulta externa y manejo de errores.</a:t>
            </a:r>
          </a:p>
        </p:txBody>
      </p:sp>
      <p:sp>
        <p:nvSpPr>
          <p:cNvPr id="13" name="texto-12">
            <a:extLst xmlns:a="http://schemas.openxmlformats.org/drawingml/2006/main">
              <a:ext uri="{FF2B5EF4-FFF2-40B4-BE49-F238E27FC236}">
                <a16:creationId xmlns:a16="http://schemas.microsoft.com/office/drawing/2014/main" id="{8298940E-B945-42E8-8C74-AFEE9986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53B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B33"/>
                </a:solidFill>
                <a:latin typeface="Arial"/>
                <a:ea typeface="Arial"/>
                <a:cs typeface="Arial"/>
              </a:rPr>
              <a:t>Alcance actual: solicitudes locales y directorio externo.</a:t>
            </a:r>
          </a:p>
        </p:txBody>
      </p:sp>
      <p:sp>
        <p:nvSpPr>
          <p:cNvPr id="14" name="texto-13">
            <a:extLst xmlns:a="http://schemas.openxmlformats.org/drawingml/2006/main">
              <a:ext uri="{FF2B5EF4-FFF2-40B4-BE49-F238E27FC236}">
                <a16:creationId xmlns:a16="http://schemas.microsoft.com/office/drawing/2014/main" id="{B30ACC62-CB74-40E7-BBE4-4E1295D0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D70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066"/>
                </a:solidFill>
                <a:latin typeface="Arial"/>
                <a:ea typeface="Arial"/>
                <a:cs typeface="Arial"/>
              </a:rPr>
              <a:t>Siguiente etapa: backend, autenticación y estados compartidos.</a:t>
            </a:r>
          </a:p>
        </p:txBody>
      </p:sp>
    </p:spTree>
    <p:extLst>
      <p:ext uri="{BB962C8B-B14F-4D97-AF65-F5344CB8AC3E}">
        <p14:creationId xmlns:p14="http://schemas.microsoft.com/office/powerpoint/2010/main" val="539798089"/>
      </p:ext>
    </p:extLst>
  </p:cSld>
</p:sld>
</file>

<file path=ppt/theme/theme1.xml><?xml version="1.0" encoding="utf-8"?>
<a:theme xmlns:a="http://schemas.openxmlformats.org/drawingml/2006/main" name="Campus">
  <a:themeElements>
    <a:clrScheme name="Campu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mpu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10</ns0:Slides>
  <ns0:Notes>10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Campus PA1 Programación Web II</dc:title>
  <ns2:created xsi:type="dcterms:W3CDTF">2026-09-24T05:02:15.7420000Z</ns2:created>
  <ns2:modified xsi:type="dcterms:W3CDTF">2026-09-24T05:02:15.7420000Z</ns2:modified>
</ns0:coreProperties>
</file>